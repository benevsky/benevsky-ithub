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0" y="256032"/>
            <a:ext cx="4023360" cy="4636008"/>
          </a:xfrm>
          <a:prstGeom prst="roundRect">
            <a:avLst>
              <a:gd name="adj" fmla="val 6364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46320" y="45720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0" b="1" spc="-1000" kern="0" dirty="0">
                <a:solidFill>
                  <a:srgbClr val="FF6B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</a:t>
            </a:r>
            <a:endParaRPr lang="en-US" sz="21000" dirty="0"/>
          </a:p>
        </p:txBody>
      </p:sp>
      <p:sp>
        <p:nvSpPr>
          <p:cNvPr id="4" name="Shape 2"/>
          <p:cNvSpPr/>
          <p:nvPr/>
        </p:nvSpPr>
        <p:spPr>
          <a:xfrm>
            <a:off x="411480" y="438912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389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СТРАТЕГИЧЕСКОЕ ПРЕДЛОЖЕНИЕ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AKSAY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11480" y="299923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Молодёжное направление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ХБК «Аксай»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931920"/>
            <a:ext cx="1600200" cy="347472"/>
          </a:xfrm>
          <a:prstGeom prst="roundRect">
            <a:avLst>
              <a:gd name="adj" fmla="val 47368"/>
            </a:avLst>
          </a:prstGeom>
          <a:solidFill>
            <a:srgbClr val="FFF4F2"/>
          </a:solidFill>
          <a:ln w="12700">
            <a:solidFill>
              <a:srgbClr val="FFF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931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Стартап-скорость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39319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95728" y="3931920"/>
            <a:ext cx="1920240" cy="347472"/>
          </a:xfrm>
          <a:prstGeom prst="roundRect">
            <a:avLst>
              <a:gd name="adj" fmla="val 47368"/>
            </a:avLst>
          </a:prstGeom>
          <a:solidFill>
            <a:srgbClr val="FFF4F2"/>
          </a:solidFill>
          <a:ln w="12700">
            <a:solidFill>
              <a:srgbClr val="FFF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Промышленный масштаб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617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Benevsky IT Hub  ×  ХБК «Аксай»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01168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 / ПРЕДЫСТОРИЯ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Откуда всё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началось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Команда </a:t>
            </a:r>
            <a:pPr indent="0" marL="0">
              <a:lnSpc>
                <a:spcPct val="138000"/>
              </a:lnSpc>
              <a:buNone/>
            </a:pPr>
            <a:r>
              <a:rPr lang="en-US" sz="11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Benevsky IT Hub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создала Tasty — бренд готовой еды, объединивший ресторанное качество, доступную цену и IT/AI. Дать городскому жителю вкусную еду — каждый день и по разумной цене.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965960" cy="1417320"/>
          </a:xfrm>
          <a:prstGeom prst="roundRect">
            <a:avLst>
              <a:gd name="adj" fmla="val 1161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443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30 000+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5844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клиентов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привлёк Tasty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2852928"/>
            <a:ext cx="2240280" cy="1481328"/>
          </a:xfrm>
          <a:prstGeom prst="roundRect">
            <a:avLst>
              <a:gd name="adj" fmla="val 11111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94436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Барьер роста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3472" y="3273552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Масштаб до 10 000+ порций в день требует промышленных линий — газации, шоковой заморозки.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256032"/>
            <a:ext cx="3767328" cy="4636008"/>
          </a:xfrm>
          <a:prstGeom prst="roundRect">
            <a:avLst>
              <a:gd name="adj" fmla="val 485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56032"/>
            <a:ext cx="3767328" cy="347472"/>
          </a:xfrm>
          <a:prstGeom prst="roundRect">
            <a:avLst>
              <a:gd name="adj" fmla="val 47368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5603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КОМАНДА TASTY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30368" y="777240"/>
            <a:ext cx="54864" cy="1005840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813816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Мухаммад Магомедов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49824" y="1170432"/>
            <a:ext cx="237744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Founder &amp; Chef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9824" y="1508760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9+ лет в общепите. Novikov Space, SVCH School.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30368" y="1947672"/>
            <a:ext cx="347472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2194560"/>
            <a:ext cx="54864" cy="1005840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2231136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Мария Колесник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9824" y="2587752"/>
            <a:ext cx="237744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2587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Chief Marketing Officer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9824" y="2926080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McDonald's, KFC, Canon, Shell, Nivea. 10+ фильмов в РК.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30368" y="3364992"/>
            <a:ext cx="3474720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3611880"/>
            <a:ext cx="54864" cy="1005840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3648456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Максим Грачев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49824" y="4005072"/>
            <a:ext cx="237744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Chief Product Officer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9824" y="4343400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МГУ + Paris Sorbonne. 4 языка. Продукт и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4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ХБК «Аксай»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99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37 лет мощи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4114800"/>
            <a:ext cx="6400800" cy="438912"/>
          </a:xfrm>
          <a:prstGeom prst="roundRect">
            <a:avLst>
              <a:gd name="adj" fmla="val 375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1148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Промышленная база, которую невозможно построить с нуля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92024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 / ХБК «АКСАЙ»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Инфраструктура, которую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не построить с нуля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3736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8745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21208" y="2542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производственных цехов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73736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8745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7288" y="2542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наименований продукции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3736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745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80+ т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73368" y="25420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продукции в сутки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5468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21208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фирменных точек Алматы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15468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5468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2 000+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447288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оптовых партнёров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154680"/>
            <a:ext cx="2743200" cy="1234440"/>
          </a:xfrm>
          <a:prstGeom prst="roundRect">
            <a:avLst>
              <a:gd name="adj" fmla="val 13333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15468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37 лет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373368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репутации и доверия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45152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HACCP  ·  ISO 22000:2018  ·  Halal  ·  70–80 маршрутов в сутки  ·  1 000+ сотрудников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4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Концепция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1783080" y="32461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Сэндвичи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49040" y="32461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Панини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0" y="32461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Бейглы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395020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Стартовый ассортимент GO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 / КОНЦЕПЦИЯ AKSAY GO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Три ключевых принципа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743200" cy="3429000"/>
          </a:xfrm>
          <a:prstGeom prst="roundRect">
            <a:avLst>
              <a:gd name="adj" fmla="val 6667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47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423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Технологии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производстве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208" y="3246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AI-прогнозирование спроса, Computer Vision для контроля качества. Данные вместо интуиции.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444752"/>
            <a:ext cx="2743200" cy="3429000"/>
          </a:xfrm>
          <a:prstGeom prst="roundRect">
            <a:avLst>
              <a:gd name="adj" fmla="val 6667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69164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647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423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Digital-диалог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 молодёжью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47288" y="3246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SMM, Wolt, Yandex Food, мобильное приложение с геймификацией. Отработано на 30 000 клиентах.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1444752"/>
            <a:ext cx="2743200" cy="3429000"/>
          </a:xfrm>
          <a:prstGeom prst="roundRect">
            <a:avLst>
              <a:gd name="adj" fmla="val 6667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69164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647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2423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Лучшая цена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 качество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73368" y="3246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Промышленная себестоимость Аксая — продукт уровня premium-casual по доступной ежедневной цене.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73736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 / ТЕХНОЛОГИИ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Sales Director —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уже внедряется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Benevsky IT Hub ведёт трансформацию ХБК «Аксай» — та же экспертиза работает на AKSAY GO.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2359152"/>
            <a:ext cx="2304288" cy="1261872"/>
          </a:xfrm>
          <a:prstGeom prst="roundRect">
            <a:avLst>
              <a:gd name="adj" fmla="val 1087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25420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2542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Предиктивная аналитика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" y="301752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Выявляет уходящих клиентов заранее. Интеграция с 1С и мессенджерами.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7208" y="2359152"/>
            <a:ext cx="2304288" cy="1261872"/>
          </a:xfrm>
          <a:prstGeom prst="roundRect">
            <a:avLst>
              <a:gd name="adj" fmla="val 1087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53512" y="25420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542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Умные допродажи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53512" y="301752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анализирует паттерны похожих точек. Прирост среднего чека +5–10%.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85032"/>
            <a:ext cx="2304288" cy="1261872"/>
          </a:xfrm>
          <a:prstGeom prst="roundRect">
            <a:avLst>
              <a:gd name="adj" fmla="val 1087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" y="38679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" y="38679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Цифровизация экспертизы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" y="434340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Лучшие скрипты продаж — в нейросеть. Стажёр эффективен с первого дня.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07208" y="3685032"/>
            <a:ext cx="2304288" cy="1261872"/>
          </a:xfrm>
          <a:prstGeom prst="roundRect">
            <a:avLst>
              <a:gd name="adj" fmla="val 1087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53512" y="38679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8679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покрытие базы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53512" y="434340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Тысячи мелких точек — автоматически. Для AI нет разницы: 10 или 10 000.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85232" y="256032"/>
            <a:ext cx="3566160" cy="4636008"/>
          </a:xfrm>
          <a:prstGeom prst="roundRect">
            <a:avLst>
              <a:gd name="adj" fmla="val 5641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685800"/>
            <a:ext cx="1993392" cy="199339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13248" y="2834640"/>
            <a:ext cx="33101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Не подписка —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 актив на балансе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413248" y="3931920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Собственная нейросеть повышает капитализацию предприятия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0020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 / СИНЕРГИЯ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Что привносит каждая сторона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167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Это не поглощение стартапа — стратегический обмен компетенциями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703320" cy="384048"/>
          </a:xfrm>
          <a:prstGeom prst="roundRect">
            <a:avLst>
              <a:gd name="adj" fmla="val 2381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830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КОМАНДА TASTY × BENEVSKY IT HUB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783080"/>
            <a:ext cx="3703320" cy="384048"/>
          </a:xfrm>
          <a:prstGeom prst="roundRect">
            <a:avLst>
              <a:gd name="adj" fmla="val 2381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830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ХБК «АКСАЙ»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41648" y="1783080"/>
            <a:ext cx="1042416" cy="384048"/>
          </a:xfrm>
          <a:prstGeom prst="roundRect">
            <a:avLst>
              <a:gd name="adj" fmla="val 23810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7830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4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Проверенный продукт и рецептуры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2860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22860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производственных цехов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41648" y="23317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3317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432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Маркетинговая машина для молодёжи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27432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27432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743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25+ розничных точек Алматы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41648" y="27889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27889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2004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4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2004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004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 / AI-экспертиза и цифровизация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32004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59368" y="32004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200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70–80 маршрутов доставки в сутки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41648" y="32461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41648" y="32461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36576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6576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576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Опыт B2C: агрегаторы, приложение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20640" y="36576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9368" y="36576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3657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2 000+ оптовых партнёров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41648" y="37033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41648" y="37033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" y="41148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4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1148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148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Понимание молодой аудитории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20640" y="41148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59368" y="41148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HACCP, ISO 22000:2018, Halal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41648" y="41605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1648" y="41605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0040" y="45720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45720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5720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Стартап-скорость и итерации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20640" y="4572000"/>
            <a:ext cx="3703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9368" y="4572000"/>
            <a:ext cx="164592" cy="365760"/>
          </a:xfrm>
          <a:prstGeom prst="roundRect">
            <a:avLst>
              <a:gd name="adj" fmla="val 388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66360" y="4572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37 лет репутации и доверия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041648" y="4617720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41648" y="46177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92024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 / ПЛАН ЗАПУСКА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От идеи — к полке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Быстро, без капитальных вложений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2423160"/>
            <a:ext cx="274320" cy="274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74520"/>
            <a:ext cx="1993392" cy="2999232"/>
          </a:xfrm>
          <a:prstGeom prst="roundRect">
            <a:avLst>
              <a:gd name="adj" fmla="val 9174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20299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Пилотная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линейка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64992"/>
            <a:ext cx="1371600" cy="36576"/>
          </a:xfrm>
          <a:prstGeom prst="rect">
            <a:avLst/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93008"/>
            <a:ext cx="16824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Сэндвичи, панини, бейглы на кулинарном цехе Аксая. Без капвложений.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2423160"/>
            <a:ext cx="274320" cy="274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1874520"/>
            <a:ext cx="1993392" cy="2999232"/>
          </a:xfrm>
          <a:prstGeom prst="roundRect">
            <a:avLst>
              <a:gd name="adj" fmla="val 917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20299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79192" y="265176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Вывод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на рынок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79192" y="3364992"/>
            <a:ext cx="1371600" cy="3657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3493008"/>
            <a:ext cx="16824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25+ точек Аксая + Wolt / Yandex Food + digital-каналы и SMM.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47104" y="2423160"/>
            <a:ext cx="274320" cy="274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584" y="1874520"/>
            <a:ext cx="1993392" cy="2999232"/>
          </a:xfrm>
          <a:prstGeom prst="roundRect">
            <a:avLst>
              <a:gd name="adj" fmla="val 917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20299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55464" y="265176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аналитика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55464" y="3364992"/>
            <a:ext cx="1371600" cy="3657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493008"/>
            <a:ext cx="16824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Масштабирование ассортимента по данным, а не гипотезам.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48856" y="1874520"/>
            <a:ext cx="1993392" cy="2999232"/>
          </a:xfrm>
          <a:prstGeom prst="roundRect">
            <a:avLst>
              <a:gd name="adj" fmla="val 917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50024" y="20299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31736" y="265176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Масшта-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бирование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31736" y="3364992"/>
            <a:ext cx="1371600" cy="36576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3493008"/>
            <a:ext cx="16824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Кафе-островки в ТЦ, корпоративное питание, B2B через сеть.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577840" cy="4636008"/>
          </a:xfrm>
          <a:prstGeom prst="roundRect">
            <a:avLst>
              <a:gd name="adj" fmla="val 552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AKSAY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-300" kern="0" dirty="0">
                <a:solidFill>
                  <a:srgbClr val="CC331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Стартап-скорость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×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промышленный масштаб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67328"/>
            <a:ext cx="5212080" cy="384048"/>
          </a:xfrm>
          <a:prstGeom prst="roundRect">
            <a:avLst>
              <a:gd name="adj" fmla="val 42857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673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Это не компромисс — это конкурентное преимущество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56032"/>
            <a:ext cx="2724912" cy="4636008"/>
          </a:xfrm>
          <a:prstGeom prst="roundRect">
            <a:avLst>
              <a:gd name="adj" fmla="val 7383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68580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Готовы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 диалогу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37960" y="1755648"/>
            <a:ext cx="1938528" cy="3657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956816"/>
            <a:ext cx="64008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9568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22592" y="193852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Benevsky IT 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91072" y="2706624"/>
            <a:ext cx="64008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706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22592" y="26883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benevsky.com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1072" y="3456432"/>
            <a:ext cx="64008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3456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22592" y="34381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+7 706 699 6633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224528"/>
            <a:ext cx="1938528" cy="3657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4370832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4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0" b="1" spc="-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Почему</a:t>
            </a:r>
            <a:endParaRPr lang="en-US" sz="9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200" b="1" spc="-200" kern="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сейчас?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0" y="34015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99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Анализ рынка готовой еды — Алматы и СНГ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0" y="4041648"/>
            <a:ext cx="4023360" cy="420624"/>
          </a:xfrm>
          <a:prstGeom prst="roundRect">
            <a:avLst>
              <a:gd name="adj" fmla="val 3913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40416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Исследование рынка — 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37744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 / РЫНОК КАЗАХСТАНА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Рынок готовой еды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Алматы и Казахстане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1664208"/>
          </a:xfrm>
          <a:prstGeom prst="roundRect">
            <a:avLst>
              <a:gd name="adj" fmla="val 989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933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$2,86 млрд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объём рынка готовой еды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Казахстана в 2025 году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821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Statista Market Insights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1664208"/>
          </a:xfrm>
          <a:prstGeom prst="roundRect">
            <a:avLst>
              <a:gd name="adj" fmla="val 989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288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933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+25%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26334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рост рынка общепита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Казахстана за год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1821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99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INFOLine, 2024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743200" cy="1664208"/>
          </a:xfrm>
          <a:prstGeom prst="roundRect">
            <a:avLst>
              <a:gd name="adj" fmla="val 989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8288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9933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≈42%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55080" y="26334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доля Алматы + Астаны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обороте общепита РК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1821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Mada Consult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2011680" cy="1170432"/>
          </a:xfrm>
          <a:prstGeom prst="roundRect">
            <a:avLst>
              <a:gd name="adj" fmla="val 10938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2011680" cy="54864"/>
          </a:xfrm>
          <a:prstGeom prst="roundRect">
            <a:avLst>
              <a:gd name="adj" fmla="val 13333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80390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Дефицит времени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411480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Ускоренный ритм жизни. Рост женской занятости.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96312" y="3703320"/>
            <a:ext cx="2011680" cy="1170432"/>
          </a:xfrm>
          <a:prstGeom prst="roundRect">
            <a:avLst>
              <a:gd name="adj" fmla="val 10938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3703320"/>
            <a:ext cx="2011680" cy="54864"/>
          </a:xfrm>
          <a:prstGeom prst="roundRect">
            <a:avLst>
              <a:gd name="adj" fmla="val 13333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60904" y="380390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Цифровая доставка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60904" y="411480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Wolt, Glovo, Яндекс Еда. Онлайн-заказ — норма.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72584" y="3703320"/>
            <a:ext cx="2011680" cy="1170432"/>
          </a:xfrm>
          <a:prstGeom prst="roundRect">
            <a:avLst>
              <a:gd name="adj" fmla="val 10938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2584" y="3703320"/>
            <a:ext cx="2011680" cy="54864"/>
          </a:xfrm>
          <a:prstGeom prst="roundRect">
            <a:avLst>
              <a:gd name="adj" fmla="val 13333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380390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Урбанизация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411480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48% заведений — в крупных городах Казахстана.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48856" y="3703320"/>
            <a:ext cx="2011680" cy="1170432"/>
          </a:xfrm>
          <a:prstGeom prst="roundRect">
            <a:avLst>
              <a:gd name="adj" fmla="val 10938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8856" y="3703320"/>
            <a:ext cx="2011680" cy="54864"/>
          </a:xfrm>
          <a:prstGeom prst="roundRect">
            <a:avLst>
              <a:gd name="adj" fmla="val 133333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380390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Смена паттернов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13448" y="4114800"/>
            <a:ext cx="1700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22–23 кг готовой еды на душу населения в год.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37744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 / РЕФЕРЕНС: РОССИЯ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Похожий менталитет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опережающий тренд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8503920" cy="731520"/>
          </a:xfrm>
          <a:prstGeom prst="roundRect">
            <a:avLst>
              <a:gd name="adj" fmla="val 1875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288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Готовая еда в России —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4-е место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среди всех категорий покупок в ритейле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272491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72491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3273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ежегодный рост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рынка готовой еды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60273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Nielsen / Точка продаж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272491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72491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+42%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10712" y="3273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рост за 1-е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полугодие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360273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Foodretail, 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72200" y="272491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72491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+51%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36792" y="3273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рост продаж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сэндвичей в РФ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6792" y="360273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Retail.ru / Infoline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1363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023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 трлн ₽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4632" y="4462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потенциал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рынка РФ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" y="479145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РБК + Магнит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46120" y="391363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91363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4023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9,4%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410712" y="4462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доля готовой еды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кошельке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10712" y="479145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Ромир / Черкизово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72200" y="3913632"/>
            <a:ext cx="2743200" cy="1024128"/>
          </a:xfrm>
          <a:prstGeom prst="roundRect">
            <a:avLst>
              <a:gd name="adj" fmla="val 16071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3913632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4023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41%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336792" y="4462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россиян покупают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сэндвичи регулярно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36792" y="4791456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Ромир, 2025–2026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56032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 / ОКНО ВОЗМОЖНОСТЕЙ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Сейчас — лучший момент для запуска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36576" cy="658368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24128" y="1600200"/>
            <a:ext cx="804672" cy="274320"/>
          </a:xfrm>
          <a:prstGeom prst="roundRect">
            <a:avLst>
              <a:gd name="adj" fmla="val 60000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00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57276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Пандемия даёт толчок доставке. Алматы переходит на онлайн-заказы.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514600"/>
            <a:ext cx="36576" cy="658368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2199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24128" y="2258568"/>
            <a:ext cx="804672" cy="274320"/>
          </a:xfrm>
          <a:prstGeom prst="roundRect">
            <a:avLst>
              <a:gd name="adj" fmla="val 60000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258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38528" y="223113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Рынок превысил допандемийные уровни. Агрегаторы — норма.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172968"/>
            <a:ext cx="36576" cy="658368"/>
          </a:xfrm>
          <a:prstGeom prst="rect">
            <a:avLst/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" y="2916936"/>
            <a:ext cx="804672" cy="274320"/>
          </a:xfrm>
          <a:prstGeom prst="roundRect">
            <a:avLst>
              <a:gd name="adj" fmla="val 60000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29169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38528" y="288950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Оборот общепита РК — 1,4 трлн тенге (+14%). Grab&amp;Go в топ-трендах.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831336"/>
            <a:ext cx="36576" cy="65836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387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4128" y="3575304"/>
            <a:ext cx="804672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5753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► 2026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38528" y="354787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Рынок растёт 7–7,5% в год. Нет локального игрока в сегменте сэндвичей.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9709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233672"/>
            <a:ext cx="804672" cy="274320"/>
          </a:xfrm>
          <a:prstGeom prst="roundRect">
            <a:avLst>
              <a:gd name="adj" fmla="val 60000"/>
            </a:avLst>
          </a:prstGeom>
          <a:solidFill>
            <a:srgbClr val="F8F7F5"/>
          </a:solidFill>
          <a:ln w="12700">
            <a:solidFill>
              <a:srgbClr val="F8F7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2336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2028+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38528" y="420624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Двукратный рост рынка при текущей динамике. Кто первый — займёт полку.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1417320"/>
            <a:ext cx="3493008" cy="3520440"/>
          </a:xfrm>
          <a:prstGeom prst="roundRect">
            <a:avLst>
              <a:gd name="adj" fmla="val 5236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1417320"/>
            <a:ext cx="3493008" cy="347472"/>
          </a:xfrm>
          <a:prstGeom prst="roundRect">
            <a:avLst>
              <a:gd name="adj" fmla="val 47368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14173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ГДЕ ЕЩЁ НЕТ ИГРОКА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04688" y="1847088"/>
            <a:ext cx="31546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04688" y="1847088"/>
            <a:ext cx="3154680" cy="54864"/>
          </a:xfrm>
          <a:prstGeom prst="roundRect">
            <a:avLst>
              <a:gd name="adj" fmla="val 116667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193852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Нет локального бренда сэндвичей с промышленной себестоимостью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04688" y="2560320"/>
            <a:ext cx="31546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04688" y="2560320"/>
            <a:ext cx="3154680" cy="54864"/>
          </a:xfrm>
          <a:prstGeom prst="roundRect">
            <a:avLst>
              <a:gd name="adj" fmla="val 116667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65176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Starbucks, Coffee Boom — без собственного производства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04688" y="3273552"/>
            <a:ext cx="31546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04688" y="3273552"/>
            <a:ext cx="3154680" cy="54864"/>
          </a:xfrm>
          <a:prstGeom prst="roundRect">
            <a:avLst>
              <a:gd name="adj" fmla="val 116667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336499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Полка сэндвичей в Magnum и Smol почти пустая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04688" y="3986784"/>
            <a:ext cx="31546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04688" y="3986784"/>
            <a:ext cx="3154680" cy="54864"/>
          </a:xfrm>
          <a:prstGeom prst="roundRect">
            <a:avLst>
              <a:gd name="adj" fmla="val 116667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50992" y="4078224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Казахстан отстаёт от РФ на 3–5 лет — рост будет быстрее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49240" y="4700016"/>
            <a:ext cx="3493008" cy="237744"/>
          </a:xfrm>
          <a:prstGeom prst="roundRect">
            <a:avLst>
              <a:gd name="adj" fmla="val 30769"/>
            </a:avLst>
          </a:prstGeom>
          <a:solidFill>
            <a:srgbClr val="FFF4F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7000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AKSAY GO заходит первым в пустую нишу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651760" cy="301752"/>
          </a:xfrm>
          <a:prstGeom prst="roundRect">
            <a:avLst>
              <a:gd name="adj" fmla="val 54545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/ ФИНАНСОВЫЙ ПОТЕНЦИАЛ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Цифры при плане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10 000 сэндвичей в день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865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Цена 1 сэндвича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990 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865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Валовая маржа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10712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865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Объём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36792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10 000 шт/день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2743200" cy="2395728"/>
          </a:xfrm>
          <a:prstGeom prst="roundRect">
            <a:avLst>
              <a:gd name="adj" fmla="val 763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146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70048"/>
            <a:ext cx="91440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ДЕНЬ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Выручка: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9 900 000 ₸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2423160" cy="274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Валовая прибыль (60%):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599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5 940 000 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≈ $12 800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578608"/>
            <a:ext cx="2743200" cy="2395728"/>
          </a:xfrm>
          <a:prstGeom prst="roundRect">
            <a:avLst>
              <a:gd name="adj" fmla="val 7634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5146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670048"/>
            <a:ext cx="914400" cy="274320"/>
          </a:xfrm>
          <a:prstGeom prst="roundRect">
            <a:avLst>
              <a:gd name="adj" fmla="val 60000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МЕСЯЦ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3090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Выручка: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297 000 000 ₸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429000" y="3749040"/>
            <a:ext cx="2423160" cy="2743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84048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Валовая прибыль (60%):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40599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4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178 200 000 ₸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29000" y="4507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≈ $383 000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578608"/>
            <a:ext cx="2743200" cy="2395728"/>
          </a:xfrm>
          <a:prstGeom prst="roundRect">
            <a:avLst>
              <a:gd name="adj" fmla="val 7634"/>
            </a:avLst>
          </a:prstGeom>
          <a:solidFill>
            <a:srgbClr val="E8442A"/>
          </a:solidFill>
          <a:ln w="12700">
            <a:solidFill>
              <a:srgbClr val="E8442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514600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2670048"/>
            <a:ext cx="914400" cy="274320"/>
          </a:xfrm>
          <a:prstGeom prst="roundRect">
            <a:avLst>
              <a:gd name="adj" fmla="val 60000"/>
            </a:avLst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 ГОД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3090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Выручка: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3 613 500 000 ₸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55080" y="3749040"/>
            <a:ext cx="2423160" cy="27432"/>
          </a:xfrm>
          <a:prstGeom prst="rect">
            <a:avLst/>
          </a:prstGeom>
          <a:solidFill>
            <a:srgbClr val="CC3318"/>
          </a:solidFill>
          <a:ln w="12700">
            <a:solidFill>
              <a:srgbClr val="CC3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84048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B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Валовая прибыль (60%):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0599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2 168 100 000 ₸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355080" y="45079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99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≈ $4,67 млн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5010912"/>
            <a:ext cx="8503920" cy="182880"/>
          </a:xfrm>
          <a:prstGeom prst="roundRect">
            <a:avLst>
              <a:gd name="adj" fmla="val 30000"/>
            </a:avLst>
          </a:prstGeom>
          <a:solidFill>
            <a:srgbClr val="F8F7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501091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Расчёт: 10 000 × 990 ₸ = 9 900 000 ₸/день · Валовая прибыль 60% · Курс USD ≈ 465 ₸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2026-03-27T09:49:37Z</dcterms:created>
  <dcterms:modified xsi:type="dcterms:W3CDTF">2026-03-27T09:49:37Z</dcterms:modified>
</cp:coreProperties>
</file>